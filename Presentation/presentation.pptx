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16DA210-FB5B-4158-B5E0-FEB733F419B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609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3D7A2-C585-48BF-BF8C-C21FDC051F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480" y="1554480"/>
            <a:ext cx="9052560" cy="2377440"/>
          </a:xfrm>
        </p:spPr>
        <p:txBody>
          <a:bodyPr anchor="t">
            <a:noAutofit/>
          </a:bodyPr>
          <a:lstStyle>
            <a:lvl1pPr algn="l">
              <a:defRPr sz="54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480" y="4242816"/>
            <a:ext cx="9052560" cy="1188720"/>
          </a:xfrm>
        </p:spPr>
        <p:txBody>
          <a:bodyPr anchor="b">
            <a:normAutofit/>
          </a:bodyPr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  <a:solidFill>
            <a:schemeClr val="tx1"/>
          </a:solidFill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3976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4297680" cy="576072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685800"/>
            <a:ext cx="5212080" cy="5760720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53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480" y="2871216"/>
            <a:ext cx="9052560" cy="2523744"/>
          </a:xfrm>
        </p:spPr>
        <p:txBody>
          <a:bodyPr anchor="b">
            <a:no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480" y="1554480"/>
            <a:ext cx="9052560" cy="1097280"/>
          </a:xfrm>
        </p:spPr>
        <p:txBody>
          <a:bodyPr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  <a:solidFill>
            <a:schemeClr val="tx1"/>
          </a:solidFill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890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731520"/>
            <a:ext cx="5261776" cy="3200400"/>
          </a:xfrm>
        </p:spPr>
        <p:txBody>
          <a:bodyPr anchor="b">
            <a:normAutofit/>
          </a:bodyPr>
          <a:lstStyle>
            <a:lvl1pPr algn="l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956278"/>
            <a:ext cx="5261775" cy="2167128"/>
          </a:xfrm>
        </p:spPr>
        <p:txBody>
          <a:bodyPr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5ED42FA-5CCA-F252-5E46-7B0091BCC8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89904" y="768096"/>
            <a:ext cx="4480560" cy="44988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6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1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4663440" cy="237744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685800"/>
            <a:ext cx="5212080" cy="2377440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95DBE8-6B89-8EA5-868B-87356D3FAF8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71600" y="3209544"/>
            <a:ext cx="10204704" cy="3227832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73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0" y="685800"/>
            <a:ext cx="5212080" cy="2103120"/>
          </a:xfrm>
        </p:spPr>
        <p:txBody>
          <a:bodyPr anchor="b"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6D8770C-634E-CA21-85DC-41D4395BF5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0" y="768096"/>
            <a:ext cx="3776472" cy="53400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2999232"/>
            <a:ext cx="5212080" cy="3310128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28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4663440" cy="576072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685800"/>
            <a:ext cx="5212080" cy="2651760"/>
          </a:xfrm>
        </p:spPr>
        <p:txBody>
          <a:bodyPr/>
          <a:lstStyle>
            <a:lvl1pPr marL="0" indent="0">
              <a:buSzPct val="70000"/>
              <a:buNone/>
              <a:defRPr/>
            </a:lvl1pPr>
            <a:lvl2pPr marL="384048" indent="-384048">
              <a:buSzPct val="70000"/>
              <a:buFont typeface="Franklin Gothic Book" panose="020B0503020102020204" pitchFamily="34" charset="0"/>
              <a:buChar char="■"/>
              <a:defRPr/>
            </a:lvl2pPr>
            <a:lvl3pPr marL="914400" indent="-384048">
              <a:buSzPct val="70000"/>
              <a:buFont typeface="Franklin Gothic Book" panose="020B0503020102020204" pitchFamily="34" charset="0"/>
              <a:buChar char="–"/>
              <a:defRPr/>
            </a:lvl3pPr>
            <a:lvl4pPr marL="1371600" indent="-384048">
              <a:buSzPct val="70000"/>
              <a:buFont typeface="Franklin Gothic Book" panose="020B0503020102020204" pitchFamily="34" charset="0"/>
              <a:buChar char="■"/>
              <a:defRPr/>
            </a:lvl4pPr>
            <a:lvl5pPr marL="1828800" indent="-384048">
              <a:buSzPct val="70000"/>
              <a:buFont typeface="Franklin Gothic Book" panose="020B0503020102020204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FB8D5A-7E59-4AEA-3F66-398413304E1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360" y="3637722"/>
            <a:ext cx="5212080" cy="2651760"/>
          </a:xfrm>
        </p:spPr>
        <p:txBody>
          <a:bodyPr/>
          <a:lstStyle>
            <a:lvl1pPr marL="0" indent="0">
              <a:buSzPct val="70000"/>
              <a:buNone/>
              <a:defRPr/>
            </a:lvl1pPr>
            <a:lvl2pPr marL="384048" indent="-384048">
              <a:buSzPct val="70000"/>
              <a:buFont typeface="Franklin Gothic Book" panose="020B0503020102020204" pitchFamily="34" charset="0"/>
              <a:buChar char="■"/>
              <a:defRPr/>
            </a:lvl2pPr>
            <a:lvl3pPr marL="914400" indent="-384048">
              <a:buSzPct val="70000"/>
              <a:buFont typeface="Franklin Gothic Book" panose="020B0503020102020204" pitchFamily="34" charset="0"/>
              <a:buChar char="–"/>
              <a:defRPr/>
            </a:lvl3pPr>
            <a:lvl4pPr marL="1371600" indent="-384048">
              <a:buSzPct val="70000"/>
              <a:buFont typeface="Franklin Gothic Book" panose="020B0503020102020204" pitchFamily="34" charset="0"/>
              <a:buChar char="■"/>
              <a:defRPr/>
            </a:lvl4pPr>
            <a:lvl5pPr marL="1828800" indent="-384048">
              <a:buSzPct val="70000"/>
              <a:buFont typeface="Franklin Gothic Book" panose="020B0503020102020204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7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10149840" cy="164592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95DBE8-6B89-8EA5-868B-87356D3FAF8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26464" y="2743200"/>
            <a:ext cx="10149840" cy="3456432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27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480" y="1554480"/>
            <a:ext cx="5577840" cy="3840480"/>
          </a:xfrm>
        </p:spPr>
        <p:txBody>
          <a:bodyPr anchor="t">
            <a:noAutofit/>
          </a:bodyPr>
          <a:lstStyle>
            <a:lvl1pPr algn="l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5ED42FA-5CCA-F252-5E46-7B0091BCC8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53528" y="768096"/>
            <a:ext cx="3776472" cy="53400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6EBE1C39-C107-91D5-DD19-349AD1A9DEAD}"/>
              </a:ext>
            </a:extLst>
          </p:cNvPr>
          <p:cNvSpPr/>
          <p:nvPr userDrawn="1"/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87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4663440" cy="576072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685800"/>
            <a:ext cx="5212080" cy="2651760"/>
          </a:xfrm>
        </p:spPr>
        <p:txBody>
          <a:bodyPr/>
          <a:lstStyle>
            <a:lvl1pPr marL="0" indent="0">
              <a:buSzPct val="70000"/>
              <a:buNone/>
              <a:defRPr/>
            </a:lvl1pPr>
            <a:lvl2pPr marL="384048" indent="-384048">
              <a:buSzPct val="70000"/>
              <a:buFont typeface="Franklin Gothic Book" panose="020B0503020102020204" pitchFamily="34" charset="0"/>
              <a:buChar char="■"/>
              <a:defRPr/>
            </a:lvl2pPr>
            <a:lvl3pPr marL="914400" indent="-384048">
              <a:buSzPct val="70000"/>
              <a:buFont typeface="Franklin Gothic Book" panose="020B0503020102020204" pitchFamily="34" charset="0"/>
              <a:buChar char="–"/>
              <a:defRPr/>
            </a:lvl3pPr>
            <a:lvl4pPr marL="1371600" indent="-384048">
              <a:buSzPct val="70000"/>
              <a:buFont typeface="Franklin Gothic Book" panose="020B0503020102020204" pitchFamily="34" charset="0"/>
              <a:buChar char="■"/>
              <a:defRPr/>
            </a:lvl4pPr>
            <a:lvl5pPr marL="1828800" indent="-384048">
              <a:buSzPct val="70000"/>
              <a:buFont typeface="Franklin Gothic Book" panose="020B0503020102020204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FB8D5A-7E59-4AEA-3F66-398413304E1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360" y="3637722"/>
            <a:ext cx="5212080" cy="2651760"/>
          </a:xfrm>
        </p:spPr>
        <p:txBody>
          <a:bodyPr/>
          <a:lstStyle>
            <a:lvl1pPr marL="512064" indent="-512064">
              <a:buSzPct val="100000"/>
              <a:buFont typeface="+mj-lt"/>
              <a:buAutoNum type="arabicPeriod"/>
              <a:defRPr/>
            </a:lvl1pPr>
            <a:lvl2pPr marL="1170432" indent="-457200">
              <a:buSzPct val="100000"/>
              <a:buFont typeface="+mj-lt"/>
              <a:buAutoNum type="alphaLcPeriod"/>
              <a:defRPr/>
            </a:lvl2pPr>
            <a:lvl3pPr marL="1645920" indent="-384048">
              <a:buSzPct val="70000"/>
              <a:buFont typeface="+mj-lt"/>
              <a:buAutoNum type="romanLcPeriod"/>
              <a:defRPr/>
            </a:lvl3pPr>
            <a:lvl4pPr marL="2103120" indent="-384048">
              <a:buSzPct val="70000"/>
              <a:buFont typeface="+mj-lt"/>
              <a:buAutoNum type="arabicParenR"/>
              <a:defRPr/>
            </a:lvl4pPr>
            <a:lvl5pPr marL="2743200" indent="-384048">
              <a:buSzPct val="70000"/>
              <a:buFont typeface="+mj-lt"/>
              <a:buAutoNum type="alphaLcParenR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1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1164FD9-A200-1A27-7217-47AF9DF9F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480" y="1554480"/>
            <a:ext cx="9052560" cy="2377440"/>
          </a:xfrm>
        </p:spPr>
        <p:txBody>
          <a:bodyPr anchor="b">
            <a:noAutofit/>
          </a:bodyPr>
          <a:lstStyle>
            <a:lvl1pPr algn="ctr">
              <a:defRPr sz="54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4069080"/>
            <a:ext cx="9144000" cy="1371600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  <a:solidFill>
            <a:schemeClr val="tx1"/>
          </a:solidFill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B83234-995D-4149-8E1E-BC120E9070D5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67" r:id="rId4"/>
    <p:sldLayoutId id="2147483671" r:id="rId5"/>
    <p:sldLayoutId id="2147483672" r:id="rId6"/>
    <p:sldLayoutId id="2147483674" r:id="rId7"/>
    <p:sldLayoutId id="2147483675" r:id="rId8"/>
    <p:sldLayoutId id="2147483676" r:id="rId9"/>
    <p:sldLayoutId id="2147483677" r:id="rId10"/>
    <p:sldLayoutId id="214748364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b="1" kern="1200" cap="all" spc="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nageljo/CharterInterview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3163-F2A4-8986-D656-C8DC4A09C4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 Stay or To Go: Predicting Customer Churn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A727F-4F9C-2422-118D-1E1A0DA86D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Charter Data Scientist Interview</a:t>
            </a:r>
          </a:p>
          <a:p>
            <a:r>
              <a:rPr lang="en-US" sz="2400" dirty="0"/>
              <a:t>Joe Nagel</a:t>
            </a:r>
          </a:p>
        </p:txBody>
      </p:sp>
    </p:spTree>
    <p:extLst>
      <p:ext uri="{BB962C8B-B14F-4D97-AF65-F5344CB8AC3E}">
        <p14:creationId xmlns:p14="http://schemas.microsoft.com/office/powerpoint/2010/main" val="86430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F1FF-8D28-5741-CADB-533BEEAD5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and modeling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701C7-E064-EE1D-DA96-F848DF5DA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000" b="1" dirty="0"/>
              <a:t>Goal: Predict churn using customer activity</a:t>
            </a:r>
          </a:p>
          <a:p>
            <a:pPr marL="0" indent="0">
              <a:buNone/>
            </a:pPr>
            <a:endParaRPr lang="en-US" sz="2600" b="1" dirty="0"/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Accounts (price and churn status)</a:t>
            </a:r>
          </a:p>
          <a:p>
            <a:pPr lvl="1"/>
            <a:r>
              <a:rPr lang="en-US" dirty="0"/>
              <a:t>Streams (timing and quality)</a:t>
            </a:r>
          </a:p>
          <a:p>
            <a:r>
              <a:rPr lang="en-US" dirty="0"/>
              <a:t>Customer Churn</a:t>
            </a:r>
          </a:p>
          <a:p>
            <a:pPr lvl="1"/>
            <a:r>
              <a:rPr lang="en-US" dirty="0"/>
              <a:t>41% overall</a:t>
            </a:r>
          </a:p>
          <a:p>
            <a:pPr lvl="2"/>
            <a:r>
              <a:rPr lang="en-US" dirty="0"/>
              <a:t>63% churn for inactive users</a:t>
            </a:r>
          </a:p>
          <a:p>
            <a:pPr lvl="2"/>
            <a:r>
              <a:rPr lang="en-US" dirty="0"/>
              <a:t>23% churn for active users</a:t>
            </a:r>
          </a:p>
          <a:p>
            <a:r>
              <a:rPr lang="en-US" dirty="0"/>
              <a:t>Feature Engineering</a:t>
            </a:r>
          </a:p>
          <a:p>
            <a:pPr lvl="1"/>
            <a:r>
              <a:rPr lang="en-US" dirty="0"/>
              <a:t>Volume</a:t>
            </a:r>
          </a:p>
          <a:p>
            <a:pPr lvl="1"/>
            <a:r>
              <a:rPr lang="en-US" dirty="0"/>
              <a:t>Recency</a:t>
            </a:r>
          </a:p>
          <a:p>
            <a:pPr lvl="1"/>
            <a:r>
              <a:rPr lang="en-US" dirty="0"/>
              <a:t>Quality</a:t>
            </a:r>
          </a:p>
          <a:p>
            <a:pPr lvl="1"/>
            <a:r>
              <a:rPr lang="en-US" dirty="0"/>
              <a:t>Value</a:t>
            </a:r>
          </a:p>
          <a:p>
            <a:r>
              <a:rPr lang="en-US" dirty="0"/>
              <a:t>Modeling Considerations</a:t>
            </a:r>
          </a:p>
          <a:p>
            <a:pPr lvl="1"/>
            <a:r>
              <a:rPr lang="en-US" dirty="0"/>
              <a:t>Binary Classification</a:t>
            </a:r>
          </a:p>
          <a:p>
            <a:pPr lvl="1"/>
            <a:r>
              <a:rPr lang="en-US" dirty="0"/>
              <a:t>Structural Missingness in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6EC56-146A-794F-FA50-F665C483B56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365" b="-42"/>
          <a:stretch>
            <a:fillRect/>
          </a:stretch>
        </p:blipFill>
        <p:spPr>
          <a:xfrm>
            <a:off x="1358291" y="2851265"/>
            <a:ext cx="4737709" cy="359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19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C5528-7D58-CFE8-3A78-AED6742D5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and prediction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240D4-6D72-7376-0D95-33758F077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XGBoost</a:t>
            </a:r>
            <a:r>
              <a:rPr lang="en-US" dirty="0"/>
              <a:t> Classifier</a:t>
            </a:r>
          </a:p>
          <a:p>
            <a:pPr lvl="1"/>
            <a:r>
              <a:rPr lang="en-US" dirty="0"/>
              <a:t>Data Split: 80%/10%/10%</a:t>
            </a:r>
          </a:p>
          <a:p>
            <a:pPr lvl="2"/>
            <a:r>
              <a:rPr lang="en-US" dirty="0"/>
              <a:t>Stratified by churn status</a:t>
            </a:r>
          </a:p>
          <a:p>
            <a:pPr lvl="1"/>
            <a:r>
              <a:rPr lang="en-US" dirty="0"/>
              <a:t>Objective: Precision-Recall AUC</a:t>
            </a:r>
          </a:p>
          <a:p>
            <a:pPr lvl="1"/>
            <a:r>
              <a:rPr lang="en-US" dirty="0"/>
              <a:t>Randomized Hyperparameter Tuning</a:t>
            </a:r>
          </a:p>
          <a:p>
            <a:pPr lvl="1"/>
            <a:r>
              <a:rPr lang="en-US" dirty="0"/>
              <a:t>Validation Based Early Stopping</a:t>
            </a:r>
          </a:p>
          <a:p>
            <a:r>
              <a:rPr lang="en-US" dirty="0"/>
              <a:t>Performance</a:t>
            </a:r>
          </a:p>
          <a:p>
            <a:pPr lvl="1"/>
            <a:r>
              <a:rPr lang="en-US" dirty="0"/>
              <a:t>PR-AUC: 0.75</a:t>
            </a:r>
          </a:p>
          <a:p>
            <a:pPr lvl="1"/>
            <a:r>
              <a:rPr lang="en-US" dirty="0"/>
              <a:t>F1-Score: 0.80</a:t>
            </a:r>
          </a:p>
          <a:p>
            <a:pPr lvl="1"/>
            <a:r>
              <a:rPr lang="en-US" dirty="0"/>
              <a:t>Precision: 0.73</a:t>
            </a:r>
          </a:p>
          <a:p>
            <a:pPr lvl="1"/>
            <a:r>
              <a:rPr lang="en-US" dirty="0"/>
              <a:t>Recall: 0.88</a:t>
            </a:r>
          </a:p>
          <a:p>
            <a:pPr lvl="1"/>
            <a:r>
              <a:rPr lang="en-US" dirty="0"/>
              <a:t>Accuracy: 0.81</a:t>
            </a:r>
          </a:p>
          <a:p>
            <a:r>
              <a:rPr lang="en-US" dirty="0"/>
              <a:t>Feature Importance</a:t>
            </a:r>
          </a:p>
          <a:p>
            <a:pPr lvl="1"/>
            <a:r>
              <a:rPr lang="en-US" dirty="0"/>
              <a:t>Recency &gt;&gt;&gt; Volume Quality Value</a:t>
            </a:r>
          </a:p>
          <a:p>
            <a:r>
              <a:rPr lang="en-US" dirty="0"/>
              <a:t>Future Work</a:t>
            </a:r>
          </a:p>
          <a:p>
            <a:pPr lvl="1" fontAlgn="t"/>
            <a:r>
              <a:rPr lang="en-US" dirty="0"/>
              <a:t>Build separate models based on activity level</a:t>
            </a:r>
          </a:p>
          <a:p>
            <a:pPr lvl="1"/>
            <a:r>
              <a:rPr lang="en-US" dirty="0"/>
              <a:t>Measure changes in user behavior over time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CD4009-CD35-6097-AEA0-6E9CB6DDC3E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71600" y="2828042"/>
            <a:ext cx="3725430" cy="381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3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7480-DBD0-B66B-7708-62BD768E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and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729D0-1475-6053-795B-BA9B29E56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AI Usage</a:t>
            </a:r>
          </a:p>
          <a:p>
            <a:pPr lvl="1"/>
            <a:r>
              <a:rPr lang="en-US" dirty="0"/>
              <a:t>Coding</a:t>
            </a:r>
          </a:p>
          <a:p>
            <a:pPr lvl="2"/>
            <a:r>
              <a:rPr lang="en-US" dirty="0"/>
              <a:t>Double checking implementation</a:t>
            </a:r>
          </a:p>
          <a:p>
            <a:pPr lvl="2"/>
            <a:r>
              <a:rPr lang="en-US" dirty="0"/>
              <a:t>Troubleshooting errors</a:t>
            </a:r>
          </a:p>
          <a:p>
            <a:pPr lvl="1"/>
            <a:r>
              <a:rPr lang="en-US" dirty="0"/>
              <a:t>Modeling</a:t>
            </a:r>
          </a:p>
          <a:p>
            <a:pPr lvl="2" fontAlgn="t"/>
            <a:r>
              <a:rPr lang="en-US" dirty="0"/>
              <a:t>Feature suggestion</a:t>
            </a:r>
          </a:p>
          <a:p>
            <a:pPr lvl="2"/>
            <a:r>
              <a:rPr lang="en-US" dirty="0"/>
              <a:t>Initial value selection</a:t>
            </a:r>
          </a:p>
          <a:p>
            <a:pPr lvl="1"/>
            <a:r>
              <a:rPr lang="en-US" dirty="0"/>
              <a:t>Communication</a:t>
            </a:r>
          </a:p>
          <a:p>
            <a:pPr lvl="2"/>
            <a:r>
              <a:rPr lang="en-US" dirty="0"/>
              <a:t>Presentation outline</a:t>
            </a:r>
          </a:p>
          <a:p>
            <a:pPr lvl="2"/>
            <a:r>
              <a:rPr lang="en-US" dirty="0"/>
              <a:t>Refining visualizations</a:t>
            </a:r>
          </a:p>
          <a:p>
            <a:r>
              <a:rPr lang="en-US" dirty="0"/>
              <a:t>Implemented in Python</a:t>
            </a:r>
          </a:p>
          <a:p>
            <a:pPr lvl="1"/>
            <a:r>
              <a:rPr lang="en-US" dirty="0"/>
              <a:t>Polars</a:t>
            </a:r>
          </a:p>
          <a:p>
            <a:pPr lvl="1"/>
            <a:r>
              <a:rPr lang="en-US" dirty="0" err="1"/>
              <a:t>XGBoost</a:t>
            </a:r>
            <a:endParaRPr lang="en-US" dirty="0"/>
          </a:p>
          <a:p>
            <a:pPr lvl="1"/>
            <a:r>
              <a:rPr lang="en-US" dirty="0"/>
              <a:t>scikit-learn</a:t>
            </a:r>
          </a:p>
          <a:p>
            <a:r>
              <a:rPr lang="en-US" dirty="0">
                <a:hlinkClick r:id="rId2"/>
              </a:rPr>
              <a:t>github.com/nageljo/</a:t>
            </a:r>
            <a:r>
              <a:rPr lang="en-US" dirty="0" err="1">
                <a:hlinkClick r:id="rId2"/>
              </a:rPr>
              <a:t>CharterInterview</a:t>
            </a:r>
            <a:r>
              <a:rPr lang="en-US" dirty="0"/>
              <a:t> </a:t>
            </a:r>
          </a:p>
        </p:txBody>
      </p:sp>
      <p:pic>
        <p:nvPicPr>
          <p:cNvPr id="4" name="Picture 3" descr="Google Gemini - Review 2026 - PCMag Middle East">
            <a:extLst>
              <a:ext uri="{FF2B5EF4-FFF2-40B4-BE49-F238E27FC236}">
                <a16:creationId xmlns:a16="http://schemas.microsoft.com/office/drawing/2014/main" id="{57D36838-7F5D-9B83-1009-03E0DD06433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881" t="35420" r="16687" b="36288"/>
          <a:stretch>
            <a:fillRect/>
          </a:stretch>
        </p:blipFill>
        <p:spPr>
          <a:xfrm>
            <a:off x="941140" y="2903453"/>
            <a:ext cx="5154860" cy="12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1715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357615_win32_EF_v3" id="{E0D2F1F9-7AB8-4CD0-BAF5-572B3B8BE236}" vid="{36B7CD22-9CE9-4A36-A2A9-2F6B82431D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8BEDAE-AC7E-4F41-A2BD-A46A860958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Product marketing meeting deck</Template>
  <TotalTime>217</TotalTime>
  <Words>178</Words>
  <Application>Microsoft Office PowerPoint</Application>
  <PresentationFormat>Widescreen</PresentationFormat>
  <Paragraphs>58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Franklin Gothic Book</vt:lpstr>
      <vt:lpstr>Crop</vt:lpstr>
      <vt:lpstr>To Stay or To Go: Predicting Customer Churn</vt:lpstr>
      <vt:lpstr>Feature engineering and modeling Considerations</vt:lpstr>
      <vt:lpstr>Model and prediction performance</vt:lpstr>
      <vt:lpstr>AI usage and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Nagel</dc:creator>
  <cp:lastModifiedBy>Joe Nagel</cp:lastModifiedBy>
  <cp:revision>5</cp:revision>
  <dcterms:created xsi:type="dcterms:W3CDTF">2026-06-08T15:10:55Z</dcterms:created>
  <dcterms:modified xsi:type="dcterms:W3CDTF">2026-06-09T18:27:55Z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