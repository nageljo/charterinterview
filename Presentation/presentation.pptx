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9"/>
  </p:notesMasterIdLst>
  <p:sldIdLst>
    <p:sldId id="256" r:id="rId5"/>
    <p:sldId id="257" r:id="rId6"/>
    <p:sldId id="258" r:id="rId7"/>
    <p:sldId id="259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16DA210-FB5B-4158-B5E0-FEB733F419B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3" autoAdjust="0"/>
    <p:restoredTop sz="94609" autoAdjust="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D81C89-AC0D-4BFF-9223-D3157C1DDC5B}" type="datetimeFigureOut">
              <a:rPr lang="en-US" smtClean="0"/>
              <a:t>6/8/2026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33D7A2-C585-48BF-BF8C-C21FDC051F7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6620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54480" y="1554480"/>
            <a:ext cx="9052560" cy="2377440"/>
          </a:xfrm>
        </p:spPr>
        <p:txBody>
          <a:bodyPr anchor="t">
            <a:noAutofit/>
          </a:bodyPr>
          <a:lstStyle>
            <a:lvl1pPr algn="l">
              <a:defRPr sz="5400" b="1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54480" y="4242816"/>
            <a:ext cx="9052560" cy="1188720"/>
          </a:xfrm>
        </p:spPr>
        <p:txBody>
          <a:bodyPr anchor="b">
            <a:normAutofit/>
          </a:bodyPr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  <a:solidFill>
            <a:schemeClr val="tx1"/>
          </a:solidFill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239762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1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4297680" cy="5760720"/>
          </a:xfrm>
        </p:spPr>
        <p:txBody>
          <a:bodyPr>
            <a:normAutofit/>
          </a:bodyPr>
          <a:lstStyle>
            <a:lvl1pPr>
              <a:defRPr sz="3600" b="1" spc="1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09360" y="685800"/>
            <a:ext cx="5212080" cy="5760720"/>
          </a:xfrm>
        </p:spPr>
        <p:txBody>
          <a:bodyPr/>
          <a:lstStyle>
            <a:lvl1pPr>
              <a:buSzPct val="70000"/>
              <a:defRPr/>
            </a:lvl1pPr>
            <a:lvl3pPr>
              <a:buSzPct val="70000"/>
              <a:defRPr/>
            </a:lvl3pPr>
            <a:lvl5pPr>
              <a:buSzPct val="7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41ED8-AC2E-4560-8CC9-E6292DDF25B6}" type="datetime1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253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 0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54480" y="2871216"/>
            <a:ext cx="9052560" cy="2523744"/>
          </a:xfrm>
        </p:spPr>
        <p:txBody>
          <a:bodyPr anchor="b">
            <a:no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54480" y="1554480"/>
            <a:ext cx="9052560" cy="1097280"/>
          </a:xfrm>
        </p:spPr>
        <p:txBody>
          <a:bodyPr>
            <a:normAutofit/>
          </a:bodyPr>
          <a:lstStyle>
            <a:lvl1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  <a:solidFill>
            <a:schemeClr val="tx1"/>
          </a:solidFill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89068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0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731520"/>
            <a:ext cx="5261776" cy="3200400"/>
          </a:xfrm>
        </p:spPr>
        <p:txBody>
          <a:bodyPr anchor="b">
            <a:normAutofit/>
          </a:bodyPr>
          <a:lstStyle>
            <a:lvl1pPr algn="l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19" y="3956278"/>
            <a:ext cx="5261775" cy="2167128"/>
          </a:xfrm>
        </p:spPr>
        <p:txBody>
          <a:bodyPr>
            <a:normAutofit/>
          </a:bodyPr>
          <a:lstStyle>
            <a:lvl1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5ED42FA-5CCA-F252-5E46-7B0091BCC8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89904" y="768096"/>
            <a:ext cx="4480560" cy="449884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Freeform 6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l" t="t" r="r" b="b"/>
            <a:pathLst>
              <a:path w="10000" h="10000">
                <a:moveTo>
                  <a:pt x="8761" y="0"/>
                </a:move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9126"/>
                </a:lnTo>
                <a:lnTo>
                  <a:pt x="8761" y="9127"/>
                </a:lnTo>
                <a:lnTo>
                  <a:pt x="8761" y="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1511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1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4663440" cy="2377440"/>
          </a:xfrm>
        </p:spPr>
        <p:txBody>
          <a:bodyPr>
            <a:normAutofit/>
          </a:bodyPr>
          <a:lstStyle>
            <a:lvl1pPr>
              <a:defRPr sz="3600" b="1" spc="1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09360" y="685800"/>
            <a:ext cx="5212080" cy="2377440"/>
          </a:xfrm>
        </p:spPr>
        <p:txBody>
          <a:bodyPr/>
          <a:lstStyle>
            <a:lvl1pPr>
              <a:buSzPct val="70000"/>
              <a:defRPr/>
            </a:lvl1pPr>
            <a:lvl3pPr>
              <a:buSzPct val="70000"/>
              <a:defRPr/>
            </a:lvl3pPr>
            <a:lvl5pPr>
              <a:buSzPct val="7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895DBE8-6B89-8EA5-868B-87356D3FAF8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371600" y="3209544"/>
            <a:ext cx="10204704" cy="3227832"/>
          </a:xfrm>
        </p:spPr>
        <p:txBody>
          <a:bodyPr/>
          <a:lstStyle>
            <a:lvl1pPr>
              <a:buSzPct val="70000"/>
              <a:defRPr/>
            </a:lvl1pPr>
            <a:lvl3pPr>
              <a:buSzPct val="70000"/>
              <a:defRPr/>
            </a:lvl3pPr>
            <a:lvl5pPr>
              <a:buSzPct val="7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41ED8-AC2E-4560-8CC9-E6292DDF25B6}" type="datetime1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673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image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0" y="685800"/>
            <a:ext cx="5212080" cy="2103120"/>
          </a:xfrm>
        </p:spPr>
        <p:txBody>
          <a:bodyPr anchor="b">
            <a:normAutofit/>
          </a:bodyPr>
          <a:lstStyle>
            <a:lvl1pPr>
              <a:defRPr sz="3600" b="1" spc="1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6D8770C-634E-CA21-85DC-41D4395BF5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71600" y="768096"/>
            <a:ext cx="3776472" cy="534009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09360" y="2999232"/>
            <a:ext cx="5212080" cy="3310128"/>
          </a:xfrm>
        </p:spPr>
        <p:txBody>
          <a:bodyPr/>
          <a:lstStyle>
            <a:lvl1pPr>
              <a:buSzPct val="70000"/>
              <a:defRPr/>
            </a:lvl1pPr>
            <a:lvl3pPr>
              <a:buSzPct val="70000"/>
              <a:defRPr/>
            </a:lvl3pPr>
            <a:lvl5pPr>
              <a:buSzPct val="7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41ED8-AC2E-4560-8CC9-E6292DDF25B6}" type="datetime1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28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4663440" cy="5760720"/>
          </a:xfrm>
        </p:spPr>
        <p:txBody>
          <a:bodyPr>
            <a:normAutofit/>
          </a:bodyPr>
          <a:lstStyle>
            <a:lvl1pPr>
              <a:defRPr sz="3600" b="1" spc="1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09360" y="685800"/>
            <a:ext cx="5212080" cy="2651760"/>
          </a:xfrm>
        </p:spPr>
        <p:txBody>
          <a:bodyPr/>
          <a:lstStyle>
            <a:lvl1pPr marL="0" indent="0">
              <a:buSzPct val="70000"/>
              <a:buNone/>
              <a:defRPr/>
            </a:lvl1pPr>
            <a:lvl2pPr marL="384048" indent="-384048">
              <a:buSzPct val="70000"/>
              <a:buFont typeface="Franklin Gothic Book" panose="020B0503020102020204" pitchFamily="34" charset="0"/>
              <a:buChar char="■"/>
              <a:defRPr/>
            </a:lvl2pPr>
            <a:lvl3pPr marL="914400" indent="-384048">
              <a:buSzPct val="70000"/>
              <a:buFont typeface="Franklin Gothic Book" panose="020B0503020102020204" pitchFamily="34" charset="0"/>
              <a:buChar char="–"/>
              <a:defRPr/>
            </a:lvl3pPr>
            <a:lvl4pPr marL="1371600" indent="-384048">
              <a:buSzPct val="70000"/>
              <a:buFont typeface="Franklin Gothic Book" panose="020B0503020102020204" pitchFamily="34" charset="0"/>
              <a:buChar char="■"/>
              <a:defRPr/>
            </a:lvl4pPr>
            <a:lvl5pPr marL="1828800" indent="-384048">
              <a:buSzPct val="70000"/>
              <a:buFont typeface="Franklin Gothic Book" panose="020B0503020102020204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FB8D5A-7E59-4AEA-3F66-398413304E1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309360" y="3637722"/>
            <a:ext cx="5212080" cy="2651760"/>
          </a:xfrm>
        </p:spPr>
        <p:txBody>
          <a:bodyPr/>
          <a:lstStyle>
            <a:lvl1pPr marL="0" indent="0">
              <a:buSzPct val="70000"/>
              <a:buNone/>
              <a:defRPr/>
            </a:lvl1pPr>
            <a:lvl2pPr marL="384048" indent="-384048">
              <a:buSzPct val="70000"/>
              <a:buFont typeface="Franklin Gothic Book" panose="020B0503020102020204" pitchFamily="34" charset="0"/>
              <a:buChar char="■"/>
              <a:defRPr/>
            </a:lvl2pPr>
            <a:lvl3pPr marL="914400" indent="-384048">
              <a:buSzPct val="70000"/>
              <a:buFont typeface="Franklin Gothic Book" panose="020B0503020102020204" pitchFamily="34" charset="0"/>
              <a:buChar char="–"/>
              <a:defRPr/>
            </a:lvl3pPr>
            <a:lvl4pPr marL="1371600" indent="-384048">
              <a:buSzPct val="70000"/>
              <a:buFont typeface="Franklin Gothic Book" panose="020B0503020102020204" pitchFamily="34" charset="0"/>
              <a:buChar char="■"/>
              <a:defRPr/>
            </a:lvl4pPr>
            <a:lvl5pPr marL="1828800" indent="-384048">
              <a:buSzPct val="70000"/>
              <a:buFont typeface="Franklin Gothic Book" panose="020B0503020102020204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41ED8-AC2E-4560-8CC9-E6292DDF25B6}" type="datetime1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475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10149840" cy="1645920"/>
          </a:xfrm>
        </p:spPr>
        <p:txBody>
          <a:bodyPr>
            <a:normAutofit/>
          </a:bodyPr>
          <a:lstStyle>
            <a:lvl1pPr>
              <a:defRPr sz="3600" b="1" spc="1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895DBE8-6B89-8EA5-868B-87356D3FAF8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426464" y="2743200"/>
            <a:ext cx="10149840" cy="3456432"/>
          </a:xfrm>
        </p:spPr>
        <p:txBody>
          <a:bodyPr/>
          <a:lstStyle>
            <a:lvl1pPr>
              <a:buSzPct val="70000"/>
              <a:defRPr/>
            </a:lvl1pPr>
            <a:lvl3pPr>
              <a:buSzPct val="70000"/>
              <a:defRPr/>
            </a:lvl3pPr>
            <a:lvl5pPr>
              <a:buSzPct val="7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41ED8-AC2E-4560-8CC9-E6292DDF25B6}" type="datetime1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273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0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54480" y="1554480"/>
            <a:ext cx="5577840" cy="3840480"/>
          </a:xfrm>
        </p:spPr>
        <p:txBody>
          <a:bodyPr anchor="t">
            <a:noAutofit/>
          </a:bodyPr>
          <a:lstStyle>
            <a:lvl1pPr algn="l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5ED42FA-5CCA-F252-5E46-7B0091BCC8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53528" y="768096"/>
            <a:ext cx="3776472" cy="534009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6EBE1C39-C107-91D5-DD19-349AD1A9DEAD}"/>
              </a:ext>
            </a:extLst>
          </p:cNvPr>
          <p:cNvSpPr/>
          <p:nvPr userDrawn="1"/>
        </p:nvSpPr>
        <p:spPr bwMode="auto">
          <a:xfrm flipH="1" flipV="1">
            <a:off x="752858" y="744469"/>
            <a:ext cx="3275668" cy="4408488"/>
          </a:xfrm>
          <a:custGeom>
            <a:avLst/>
            <a:gdLst/>
            <a:ahLst/>
            <a:cxnLst/>
            <a:rect l="l" t="t" r="r" b="b"/>
            <a:pathLst>
              <a:path w="10002" h="10000">
                <a:moveTo>
                  <a:pt x="8763" y="0"/>
                </a:moveTo>
                <a:lnTo>
                  <a:pt x="10002" y="0"/>
                </a:lnTo>
                <a:lnTo>
                  <a:pt x="10002" y="10000"/>
                </a:lnTo>
                <a:lnTo>
                  <a:pt x="2" y="10000"/>
                </a:lnTo>
                <a:cubicBezTo>
                  <a:pt x="-2" y="9698"/>
                  <a:pt x="4" y="9427"/>
                  <a:pt x="0" y="9125"/>
                </a:cubicBezTo>
                <a:lnTo>
                  <a:pt x="8763" y="9128"/>
                </a:lnTo>
                <a:lnTo>
                  <a:pt x="8763" y="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4874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3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4663440" cy="5760720"/>
          </a:xfrm>
        </p:spPr>
        <p:txBody>
          <a:bodyPr>
            <a:normAutofit/>
          </a:bodyPr>
          <a:lstStyle>
            <a:lvl1pPr>
              <a:defRPr sz="3600" b="1" spc="1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09360" y="685800"/>
            <a:ext cx="5212080" cy="2651760"/>
          </a:xfrm>
        </p:spPr>
        <p:txBody>
          <a:bodyPr/>
          <a:lstStyle>
            <a:lvl1pPr marL="0" indent="0">
              <a:buSzPct val="70000"/>
              <a:buNone/>
              <a:defRPr/>
            </a:lvl1pPr>
            <a:lvl2pPr marL="384048" indent="-384048">
              <a:buSzPct val="70000"/>
              <a:buFont typeface="Franklin Gothic Book" panose="020B0503020102020204" pitchFamily="34" charset="0"/>
              <a:buChar char="■"/>
              <a:defRPr/>
            </a:lvl2pPr>
            <a:lvl3pPr marL="914400" indent="-384048">
              <a:buSzPct val="70000"/>
              <a:buFont typeface="Franklin Gothic Book" panose="020B0503020102020204" pitchFamily="34" charset="0"/>
              <a:buChar char="–"/>
              <a:defRPr/>
            </a:lvl3pPr>
            <a:lvl4pPr marL="1371600" indent="-384048">
              <a:buSzPct val="70000"/>
              <a:buFont typeface="Franklin Gothic Book" panose="020B0503020102020204" pitchFamily="34" charset="0"/>
              <a:buChar char="■"/>
              <a:defRPr/>
            </a:lvl4pPr>
            <a:lvl5pPr marL="1828800" indent="-384048">
              <a:buSzPct val="70000"/>
              <a:buFont typeface="Franklin Gothic Book" panose="020B0503020102020204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FB8D5A-7E59-4AEA-3F66-398413304E1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309360" y="3637722"/>
            <a:ext cx="5212080" cy="2651760"/>
          </a:xfrm>
        </p:spPr>
        <p:txBody>
          <a:bodyPr/>
          <a:lstStyle>
            <a:lvl1pPr marL="512064" indent="-512064">
              <a:buSzPct val="100000"/>
              <a:buFont typeface="+mj-lt"/>
              <a:buAutoNum type="arabicPeriod"/>
              <a:defRPr/>
            </a:lvl1pPr>
            <a:lvl2pPr marL="1170432" indent="-457200">
              <a:buSzPct val="100000"/>
              <a:buFont typeface="+mj-lt"/>
              <a:buAutoNum type="alphaLcPeriod"/>
              <a:defRPr/>
            </a:lvl2pPr>
            <a:lvl3pPr marL="1645920" indent="-384048">
              <a:buSzPct val="70000"/>
              <a:buFont typeface="+mj-lt"/>
              <a:buAutoNum type="romanLcPeriod"/>
              <a:defRPr/>
            </a:lvl3pPr>
            <a:lvl4pPr marL="2103120" indent="-384048">
              <a:buSzPct val="70000"/>
              <a:buFont typeface="+mj-lt"/>
              <a:buAutoNum type="arabicParenR"/>
              <a:defRPr/>
            </a:lvl4pPr>
            <a:lvl5pPr marL="2743200" indent="-384048">
              <a:buSzPct val="70000"/>
              <a:buFont typeface="+mj-lt"/>
              <a:buAutoNum type="alphaLcParenR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41ED8-AC2E-4560-8CC9-E6292DDF25B6}" type="datetime1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011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1164FD9-A200-1A27-7217-47AF9DF9F5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4480" y="1554480"/>
            <a:ext cx="9052560" cy="2377440"/>
          </a:xfrm>
        </p:spPr>
        <p:txBody>
          <a:bodyPr anchor="b">
            <a:noAutofit/>
          </a:bodyPr>
          <a:lstStyle>
            <a:lvl1pPr algn="ctr">
              <a:defRPr sz="5400" b="1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7048" y="4069080"/>
            <a:ext cx="9144000" cy="1371600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  <a:solidFill>
            <a:schemeClr val="tx1"/>
          </a:solidFill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5CB83234-995D-4149-8E1E-BC120E9070D5}" type="datetime1">
              <a:rPr lang="en-US" smtClean="0"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67" r:id="rId4"/>
    <p:sldLayoutId id="2147483671" r:id="rId5"/>
    <p:sldLayoutId id="2147483672" r:id="rId6"/>
    <p:sldLayoutId id="2147483674" r:id="rId7"/>
    <p:sldLayoutId id="2147483675" r:id="rId8"/>
    <p:sldLayoutId id="2147483676" r:id="rId9"/>
    <p:sldLayoutId id="2147483677" r:id="rId10"/>
    <p:sldLayoutId id="2147483649" r:id="rId11"/>
  </p:sldLayoutIdLst>
  <p:hf sldNum="0"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b="1" kern="1200" cap="all" spc="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83163-F2A4-8986-D656-C8DC4A09C4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Customer usage for Churn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A727F-4F9C-2422-118D-1E1A0DA86D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Charter Data Scientist Contractor Interview</a:t>
            </a:r>
          </a:p>
          <a:p>
            <a:r>
              <a:rPr lang="en-US" dirty="0"/>
              <a:t>Joe Nagel</a:t>
            </a:r>
          </a:p>
        </p:txBody>
      </p:sp>
    </p:spTree>
    <p:extLst>
      <p:ext uri="{BB962C8B-B14F-4D97-AF65-F5344CB8AC3E}">
        <p14:creationId xmlns:p14="http://schemas.microsoft.com/office/powerpoint/2010/main" val="86430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4F1FF-8D28-5741-CADB-533BEEAD5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 and 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701C7-E064-EE1D-DA96-F848DF5DA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Feature engineering</a:t>
            </a:r>
          </a:p>
          <a:p>
            <a:pPr lvl="1"/>
            <a:r>
              <a:rPr lang="en-US" dirty="0"/>
              <a:t>Discuss feature groups</a:t>
            </a:r>
          </a:p>
          <a:p>
            <a:r>
              <a:rPr lang="en-US" dirty="0"/>
              <a:t>Modeling approach</a:t>
            </a:r>
          </a:p>
          <a:p>
            <a:pPr lvl="1"/>
            <a:r>
              <a:rPr lang="en-US" dirty="0"/>
              <a:t>Structural missingness</a:t>
            </a:r>
          </a:p>
          <a:p>
            <a:pPr lvl="2"/>
            <a:r>
              <a:rPr lang="en-US" dirty="0"/>
              <a:t>2 models</a:t>
            </a:r>
          </a:p>
          <a:p>
            <a:pPr lvl="2"/>
            <a:r>
              <a:rPr lang="en-US" dirty="0"/>
              <a:t>Model that can account for it</a:t>
            </a:r>
          </a:p>
          <a:p>
            <a:pPr lvl="1"/>
            <a:r>
              <a:rPr lang="en-US" dirty="0" err="1"/>
              <a:t>Xgboost</a:t>
            </a:r>
            <a:endParaRPr lang="en-US" dirty="0"/>
          </a:p>
          <a:p>
            <a:pPr lvl="2"/>
            <a:r>
              <a:rPr lang="en-US" dirty="0"/>
              <a:t>Handles structural missingness</a:t>
            </a:r>
          </a:p>
          <a:p>
            <a:pPr lvl="2"/>
            <a:r>
              <a:rPr lang="en-US" dirty="0"/>
              <a:t>Effective for binary prediction</a:t>
            </a:r>
          </a:p>
          <a:p>
            <a:pPr lvl="2"/>
            <a:r>
              <a:rPr lang="en-US" dirty="0"/>
              <a:t>Reports variable importance</a:t>
            </a:r>
          </a:p>
          <a:p>
            <a:pPr lvl="2"/>
            <a:r>
              <a:rPr lang="en-US" dirty="0"/>
              <a:t>Objective function: </a:t>
            </a:r>
            <a:r>
              <a:rPr lang="en-US" dirty="0" err="1"/>
              <a:t>roc_auc</a:t>
            </a:r>
            <a:endParaRPr lang="en-US" dirty="0"/>
          </a:p>
          <a:p>
            <a:pPr lvl="1"/>
            <a:r>
              <a:rPr lang="en-US" dirty="0"/>
              <a:t>Data preparation</a:t>
            </a:r>
          </a:p>
          <a:p>
            <a:pPr lvl="2"/>
            <a:r>
              <a:rPr lang="en-US" dirty="0"/>
              <a:t>80/10/10 train test validation split</a:t>
            </a:r>
          </a:p>
          <a:p>
            <a:pPr lvl="3"/>
            <a:r>
              <a:rPr lang="en-US" dirty="0"/>
              <a:t>Stratified by </a:t>
            </a:r>
          </a:p>
        </p:txBody>
      </p:sp>
    </p:spTree>
    <p:extLst>
      <p:ext uri="{BB962C8B-B14F-4D97-AF65-F5344CB8AC3E}">
        <p14:creationId xmlns:p14="http://schemas.microsoft.com/office/powerpoint/2010/main" val="3795819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C5528-7D58-CFE8-3A78-AED6742D5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results and prediction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240D4-6D72-7376-0D95-33758F077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Predicion</a:t>
            </a:r>
            <a:r>
              <a:rPr lang="en-US" dirty="0"/>
              <a:t> results</a:t>
            </a:r>
          </a:p>
        </p:txBody>
      </p:sp>
    </p:spTree>
    <p:extLst>
      <p:ext uri="{BB962C8B-B14F-4D97-AF65-F5344CB8AC3E}">
        <p14:creationId xmlns:p14="http://schemas.microsoft.com/office/powerpoint/2010/main" val="430730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47480-DBD0-B66B-7708-62BD768E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usage and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729D0-1475-6053-795B-BA9B29E56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517153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4357615_win32_EF_v3" id="{E0D2F1F9-7AB8-4CD0-BAF5-572B3B8BE236}" vid="{36B7CD22-9CE9-4A36-A2A9-2F6B82431D8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D9A38F-9A2C-42E5-9013-4C4B1FFCB4F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8C45FB24-BEC6-4D44-888B-84AEBBA2DC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48BEDAE-AC7E-4F41-A2BD-A46A8609588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Product marketing meeting deck</Template>
  <TotalTime>71</TotalTime>
  <Words>71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Calibri</vt:lpstr>
      <vt:lpstr>Franklin Gothic Book</vt:lpstr>
      <vt:lpstr>Crop</vt:lpstr>
      <vt:lpstr>Customer usage for Churn prediction</vt:lpstr>
      <vt:lpstr>Feature engineering and modeling approach</vt:lpstr>
      <vt:lpstr>Modeling results and prediction performance</vt:lpstr>
      <vt:lpstr>AI usage and implementation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Nagel</dc:creator>
  <cp:lastModifiedBy>Joe Nagel</cp:lastModifiedBy>
  <cp:revision>1</cp:revision>
  <dcterms:created xsi:type="dcterms:W3CDTF">2026-06-08T15:10:55Z</dcterms:created>
  <dcterms:modified xsi:type="dcterms:W3CDTF">2026-06-08T16:22:00Z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